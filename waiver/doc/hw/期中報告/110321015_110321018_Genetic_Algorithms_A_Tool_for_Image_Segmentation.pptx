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417" r:id="rId3"/>
    <p:sldId id="397" r:id="rId4"/>
    <p:sldId id="476" r:id="rId5"/>
    <p:sldId id="438" r:id="rId6"/>
    <p:sldId id="443" r:id="rId7"/>
    <p:sldId id="510" r:id="rId8"/>
    <p:sldId id="511" r:id="rId9"/>
    <p:sldId id="514" r:id="rId10"/>
    <p:sldId id="516" r:id="rId11"/>
    <p:sldId id="512" r:id="rId12"/>
    <p:sldId id="515" r:id="rId13"/>
    <p:sldId id="517" r:id="rId14"/>
    <p:sldId id="519" r:id="rId15"/>
    <p:sldId id="518" r:id="rId16"/>
    <p:sldId id="520" r:id="rId17"/>
    <p:sldId id="521" r:id="rId18"/>
    <p:sldId id="522" r:id="rId19"/>
    <p:sldId id="523" r:id="rId20"/>
    <p:sldId id="524" r:id="rId21"/>
    <p:sldId id="525" r:id="rId22"/>
    <p:sldId id="526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2F5597"/>
    <a:srgbClr val="FFCC99"/>
    <a:srgbClr val="FF3300"/>
    <a:srgbClr val="C00000"/>
    <a:srgbClr val="F3F8FF"/>
    <a:srgbClr val="F4F3FF"/>
    <a:srgbClr val="B4C7E7"/>
    <a:srgbClr val="FCD96A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3883" autoAdjust="0"/>
  </p:normalViewPr>
  <p:slideViewPr>
    <p:cSldViewPr snapToGrid="0">
      <p:cViewPr varScale="1">
        <p:scale>
          <a:sx n="80" d="100"/>
          <a:sy n="80" d="100"/>
        </p:scale>
        <p:origin x="10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1C61856-EDAE-4ED3-A427-1DF57A0FA8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5D3D381-9A8F-428A-8A83-46413549EB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3BF94-D3CC-4099-B754-7E9C4359B32C}" type="datetimeFigureOut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9161645-9D6A-4742-ADF3-94B47840CA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1837C0-36EC-4560-8E49-CABA45A7E3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B8C1E-D5D5-430F-9723-A56B178339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165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60B05-FDA0-459B-B2A1-DE01469015F1}" type="datetimeFigureOut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E6E89-27D4-4F16-9718-C7E452E08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87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2C9D-E23E-4BE6-B1AA-58E878814EEB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26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CF43B-8076-49B3-A520-BF5C5DF6A43B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fld id="{4A437E8B-9299-4714-BA56-3FC38D65EF1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633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7321-8731-47D4-91C4-97E9ECFEFF41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5412053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65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4635-330F-4D55-AB8A-BFF892F61257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69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73B7-4D2E-4D82-826A-8A018A5A53B1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07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00A7-C8DB-4688-9FFE-966C584F0A02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67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E45A-EA38-4327-B9B1-8EED6EFED7F7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21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B58C0-1335-436E-81BB-57A0394A57E9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29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27B4-0FA9-423C-BC52-3D734347A85D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87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FF52-1EBD-40D1-8306-CD369BAE6CA7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6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03DD-EC2B-4389-BD34-7B18C353FC92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5407555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394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DFC3A-12AA-4C1F-AF76-ECA6CC3C2E42}" type="datetime1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5407555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37E8B-9299-4714-BA56-3FC38D65EF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21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29331AF-77B7-4850-834D-7CBE5196A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46" y="1362816"/>
            <a:ext cx="8865908" cy="1413261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Genetic Algorithms</a:t>
            </a:r>
            <a:b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Tool for Image Segmentation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69C092-8146-4233-A7EB-B79BEE575A70}"/>
              </a:ext>
            </a:extLst>
          </p:cNvPr>
          <p:cNvSpPr/>
          <p:nvPr/>
        </p:nvSpPr>
        <p:spPr>
          <a:xfrm>
            <a:off x="1153403" y="3094140"/>
            <a:ext cx="683719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報告組員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110321015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陳奕羱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110321018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張簡雲翔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37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B8F0D61-5265-435C-A61C-8D6638E3AF01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2C4C11E-EF5D-440D-98F4-B9B146D83D35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7886700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 Based Algorithm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Experiment &amp; Result</a:t>
            </a:r>
          </a:p>
        </p:txBody>
      </p:sp>
    </p:spTree>
    <p:extLst>
      <p:ext uri="{BB962C8B-B14F-4D97-AF65-F5344CB8AC3E}">
        <p14:creationId xmlns:p14="http://schemas.microsoft.com/office/powerpoint/2010/main" val="354018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E8DC60EE-A57A-4375-B464-D816B7556B1B}"/>
              </a:ext>
            </a:extLst>
          </p:cNvPr>
          <p:cNvSpPr txBox="1"/>
          <p:nvPr/>
        </p:nvSpPr>
        <p:spPr>
          <a:xfrm>
            <a:off x="1280867" y="2565113"/>
            <a:ext cx="658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53330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B8F0D61-5265-435C-A61C-8D6638E3AF01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FFC8A4CC-A06E-4AF3-927A-B9AD7CC1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F45BF943-A865-4E3E-A9BF-A6A3A8FCEE85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Task :	 Image Segmentation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general methods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High complexity problem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Technique :  Genetic Algorithms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Dealing with complex search spaces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Minimum available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knowledge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873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E8DC60EE-A57A-4375-B464-D816B7556B1B}"/>
              </a:ext>
            </a:extLst>
          </p:cNvPr>
          <p:cNvSpPr txBox="1"/>
          <p:nvPr/>
        </p:nvSpPr>
        <p:spPr>
          <a:xfrm>
            <a:off x="1280867" y="2565113"/>
            <a:ext cx="658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GA Based Algorithm</a:t>
            </a:r>
          </a:p>
        </p:txBody>
      </p:sp>
    </p:spTree>
    <p:extLst>
      <p:ext uri="{BB962C8B-B14F-4D97-AF65-F5344CB8AC3E}">
        <p14:creationId xmlns:p14="http://schemas.microsoft.com/office/powerpoint/2010/main" val="315212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1">
            <a:extLst>
              <a:ext uri="{FF2B5EF4-FFF2-40B4-BE49-F238E27FC236}">
                <a16:creationId xmlns:a16="http://schemas.microsoft.com/office/drawing/2014/main" id="{D21FE25C-D64A-48C8-B022-7132CA476959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Flow Chart of GAs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0F3C0A0-E95A-43C4-A5F6-0CDF88C5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7E8B-9299-4714-BA56-3FC38D65EF11}" type="slidenum">
              <a:rPr lang="zh-TW" altLang="en-US" smtClean="0"/>
              <a:t>6</a:t>
            </a:fld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DAC468CB-2429-C26E-6CF7-250BED436CE5}"/>
              </a:ext>
            </a:extLst>
          </p:cNvPr>
          <p:cNvGrpSpPr/>
          <p:nvPr/>
        </p:nvGrpSpPr>
        <p:grpSpPr>
          <a:xfrm>
            <a:off x="1674026" y="1003041"/>
            <a:ext cx="5795949" cy="4162749"/>
            <a:chOff x="1674026" y="1003042"/>
            <a:chExt cx="5795949" cy="4162749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0E91C6EC-C7FA-A1F2-1A6F-187706F14346}"/>
                </a:ext>
              </a:extLst>
            </p:cNvPr>
            <p:cNvCxnSpPr>
              <a:cxnSpLocks/>
            </p:cNvCxnSpPr>
            <p:nvPr/>
          </p:nvCxnSpPr>
          <p:spPr>
            <a:xfrm>
              <a:off x="7076547" y="2180714"/>
              <a:ext cx="0" cy="86610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907FD01F-9A3A-0055-6C6F-E4ADFE673605}"/>
                </a:ext>
              </a:extLst>
            </p:cNvPr>
            <p:cNvCxnSpPr>
              <a:cxnSpLocks/>
            </p:cNvCxnSpPr>
            <p:nvPr/>
          </p:nvCxnSpPr>
          <p:spPr>
            <a:xfrm>
              <a:off x="5631621" y="2180714"/>
              <a:ext cx="0" cy="86610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9C0BAFCC-4A2D-CA62-9798-1C3B145719C6}"/>
                </a:ext>
              </a:extLst>
            </p:cNvPr>
            <p:cNvSpPr txBox="1"/>
            <p:nvPr/>
          </p:nvSpPr>
          <p:spPr>
            <a:xfrm>
              <a:off x="5991621" y="2490656"/>
              <a:ext cx="6908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Results</a:t>
              </a:r>
              <a:endParaRPr lang="zh-TW" altLang="en-US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307FC31-C307-9BE9-8DEF-3616D4144FEB}"/>
                </a:ext>
              </a:extLst>
            </p:cNvPr>
            <p:cNvSpPr txBox="1"/>
            <p:nvPr/>
          </p:nvSpPr>
          <p:spPr>
            <a:xfrm>
              <a:off x="5325621" y="2451766"/>
              <a:ext cx="612000" cy="32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F5597"/>
              </a:solidFill>
              <a:prstDash val="solid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By</a:t>
              </a:r>
            </a:p>
            <a:p>
              <a:pPr algn="ctr"/>
              <a:r>
                <a:rPr lang="en-US" altLang="zh-TW" sz="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Machine</a:t>
              </a:r>
              <a:endParaRPr lang="zh-TW" altLang="en-US" sz="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87AB391-CA0C-250E-DB13-BCA219BAA9E9}"/>
                </a:ext>
              </a:extLst>
            </p:cNvPr>
            <p:cNvSpPr txBox="1"/>
            <p:nvPr/>
          </p:nvSpPr>
          <p:spPr>
            <a:xfrm>
              <a:off x="6765632" y="2451766"/>
              <a:ext cx="612000" cy="32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55A11"/>
              </a:solidFill>
              <a:prstDash val="solid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By</a:t>
              </a:r>
            </a:p>
            <a:p>
              <a:pPr algn="ctr"/>
              <a:r>
                <a:rPr lang="en-US" altLang="zh-TW" sz="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Human</a:t>
              </a:r>
              <a:endParaRPr lang="zh-TW" altLang="en-US" sz="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77F6FACC-B193-8BA5-A8EC-546B8759A9CA}"/>
                </a:ext>
              </a:extLst>
            </p:cNvPr>
            <p:cNvCxnSpPr>
              <a:cxnSpLocks/>
              <a:stCxn id="4" idx="3"/>
              <a:endCxn id="2" idx="1"/>
            </p:cNvCxnSpPr>
            <p:nvPr/>
          </p:nvCxnSpPr>
          <p:spPr>
            <a:xfrm>
              <a:off x="3903130" y="1922411"/>
              <a:ext cx="133774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15540EB0-EC04-DF31-5445-B8B14E9B97FB}"/>
                </a:ext>
              </a:extLst>
            </p:cNvPr>
            <p:cNvCxnSpPr>
              <a:cxnSpLocks/>
              <a:stCxn id="3" idx="1"/>
              <a:endCxn id="6" idx="3"/>
            </p:cNvCxnSpPr>
            <p:nvPr/>
          </p:nvCxnSpPr>
          <p:spPr>
            <a:xfrm flipH="1">
              <a:off x="3820871" y="3305122"/>
              <a:ext cx="142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0F2E5061-8053-8373-819D-F33EE7BD3371}"/>
                </a:ext>
              </a:extLst>
            </p:cNvPr>
            <p:cNvCxnSpPr>
              <a:cxnSpLocks/>
              <a:stCxn id="6" idx="0"/>
              <a:endCxn id="4" idx="2"/>
            </p:cNvCxnSpPr>
            <p:nvPr/>
          </p:nvCxnSpPr>
          <p:spPr>
            <a:xfrm flipV="1">
              <a:off x="2788578" y="2180714"/>
              <a:ext cx="0" cy="7562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EF29132-99B8-1A28-E5B7-F5CEEE69766F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2788578" y="3673252"/>
              <a:ext cx="0" cy="7562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65D138D4-4C85-A1D4-3087-47948B8BA824}"/>
                </a:ext>
              </a:extLst>
            </p:cNvPr>
            <p:cNvSpPr/>
            <p:nvPr/>
          </p:nvSpPr>
          <p:spPr>
            <a:xfrm>
              <a:off x="5240871" y="1664109"/>
              <a:ext cx="2229104" cy="516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Segmentation</a:t>
              </a:r>
              <a:endPara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FC28E213-DB54-AF10-4B90-3A94F662A865}"/>
                </a:ext>
              </a:extLst>
            </p:cNvPr>
            <p:cNvSpPr/>
            <p:nvPr/>
          </p:nvSpPr>
          <p:spPr>
            <a:xfrm>
              <a:off x="5240871" y="3046819"/>
              <a:ext cx="2229104" cy="516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</a:t>
              </a:r>
              <a:endPara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0FEC2405-B6B2-438A-1DF6-20498E67B9C4}"/>
                </a:ext>
              </a:extLst>
            </p:cNvPr>
            <p:cNvSpPr/>
            <p:nvPr/>
          </p:nvSpPr>
          <p:spPr>
            <a:xfrm>
              <a:off x="1674026" y="1664109"/>
              <a:ext cx="2229104" cy="516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Crossover &amp; Mutation</a:t>
              </a:r>
              <a:endPara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67A6CC32-CB1E-F16A-5DDD-B511404969D6}"/>
                </a:ext>
              </a:extLst>
            </p:cNvPr>
            <p:cNvSpPr/>
            <p:nvPr/>
          </p:nvSpPr>
          <p:spPr>
            <a:xfrm>
              <a:off x="1756285" y="2936991"/>
              <a:ext cx="2064586" cy="736262"/>
            </a:xfrm>
            <a:prstGeom prst="diamond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Terminate ?</a:t>
              </a:r>
              <a:endPara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9674D4CB-D7B6-6233-8C0C-222C0A7E4D8B}"/>
                </a:ext>
              </a:extLst>
            </p:cNvPr>
            <p:cNvSpPr/>
            <p:nvPr/>
          </p:nvSpPr>
          <p:spPr>
            <a:xfrm>
              <a:off x="1991624" y="4429529"/>
              <a:ext cx="1593908" cy="73626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Segmented</a:t>
              </a:r>
            </a:p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</a:t>
              </a:r>
              <a:endPara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32FE1D9C-1F0C-6F18-50BE-6CA2F3C0F090}"/>
                </a:ext>
              </a:extLst>
            </p:cNvPr>
            <p:cNvSpPr txBox="1"/>
            <p:nvPr/>
          </p:nvSpPr>
          <p:spPr>
            <a:xfrm>
              <a:off x="5639214" y="1003042"/>
              <a:ext cx="1432418" cy="382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Initial</a:t>
              </a:r>
            </a:p>
            <a:p>
              <a:pPr algn="ctr"/>
              <a:r>
                <a:rPr lang="en-US" altLang="zh-TW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Population</a:t>
              </a:r>
              <a:endParaRPr lang="zh-TW" altLang="en-US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4E2C662-0DDA-F9EC-D2AE-CF6F8FD27A03}"/>
                </a:ext>
              </a:extLst>
            </p:cNvPr>
            <p:cNvSpPr txBox="1"/>
            <p:nvPr/>
          </p:nvSpPr>
          <p:spPr>
            <a:xfrm>
              <a:off x="3930968" y="3310861"/>
              <a:ext cx="1199807" cy="529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Fitness</a:t>
              </a:r>
            </a:p>
            <a:p>
              <a:pPr algn="ctr"/>
              <a:r>
                <a:rPr lang="en-US" altLang="zh-TW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of</a:t>
              </a:r>
            </a:p>
            <a:p>
              <a:pPr algn="ctr"/>
              <a:r>
                <a:rPr lang="en-US" altLang="zh-TW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Population</a:t>
              </a:r>
              <a:endParaRPr lang="zh-TW" altLang="en-US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EE5B344D-FDCD-2588-8798-AC2D12F16E9C}"/>
                </a:ext>
              </a:extLst>
            </p:cNvPr>
            <p:cNvSpPr txBox="1"/>
            <p:nvPr/>
          </p:nvSpPr>
          <p:spPr>
            <a:xfrm>
              <a:off x="1923701" y="2367465"/>
              <a:ext cx="866217" cy="382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Current</a:t>
              </a:r>
            </a:p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Population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F246A4DF-7945-B564-F307-8BA8602E45FB}"/>
                </a:ext>
              </a:extLst>
            </p:cNvPr>
            <p:cNvSpPr txBox="1"/>
            <p:nvPr/>
          </p:nvSpPr>
          <p:spPr>
            <a:xfrm>
              <a:off x="4047778" y="1539365"/>
              <a:ext cx="1048446" cy="382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New</a:t>
              </a:r>
            </a:p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Population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E0C6D55F-085F-EBF3-6AA9-DCD22834B21F}"/>
                </a:ext>
              </a:extLst>
            </p:cNvPr>
            <p:cNvCxnSpPr>
              <a:cxnSpLocks/>
              <a:stCxn id="27" idx="2"/>
              <a:endCxn id="2" idx="0"/>
            </p:cNvCxnSpPr>
            <p:nvPr/>
          </p:nvCxnSpPr>
          <p:spPr>
            <a:xfrm>
              <a:off x="6355423" y="1385818"/>
              <a:ext cx="0" cy="27829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18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82FC-9790-57F8-BC69-761423E5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10FB14B-5E16-718D-39B4-67F82508500C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Image Segmentation by Human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366E7E0B-EF61-A974-AEA2-208F4FDD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7</a:t>
            </a:fld>
            <a:endParaRPr lang="zh-TW" altLang="en-US" dirty="0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7763AA21-076C-4C3E-4AE2-E296734B4CDA}"/>
              </a:ext>
            </a:extLst>
          </p:cNvPr>
          <p:cNvGrpSpPr/>
          <p:nvPr/>
        </p:nvGrpSpPr>
        <p:grpSpPr>
          <a:xfrm>
            <a:off x="527528" y="1948688"/>
            <a:ext cx="8088945" cy="2271456"/>
            <a:chOff x="527528" y="1948688"/>
            <a:chExt cx="8088945" cy="2271456"/>
          </a:xfrm>
        </p:grpSpPr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2F3BBB77-7747-C390-7644-A38A032047F3}"/>
                </a:ext>
              </a:extLst>
            </p:cNvPr>
            <p:cNvCxnSpPr>
              <a:cxnSpLocks/>
              <a:stCxn id="8" idx="3"/>
              <a:endCxn id="1027" idx="1"/>
            </p:cNvCxnSpPr>
            <p:nvPr/>
          </p:nvCxnSpPr>
          <p:spPr>
            <a:xfrm>
              <a:off x="5456813" y="2847213"/>
              <a:ext cx="127697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2B368E8C-4214-39EE-A535-D16609264E4F}"/>
                </a:ext>
              </a:extLst>
            </p:cNvPr>
            <p:cNvCxnSpPr>
              <a:stCxn id="5" idx="3"/>
              <a:endCxn id="8" idx="1"/>
            </p:cNvCxnSpPr>
            <p:nvPr/>
          </p:nvCxnSpPr>
          <p:spPr>
            <a:xfrm>
              <a:off x="2353682" y="2847213"/>
              <a:ext cx="127697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77489E0-51C3-6883-ECCD-52DDA43C9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03" t="3055" r="2205" b="2376"/>
            <a:stretch/>
          </p:blipFill>
          <p:spPr>
            <a:xfrm>
              <a:off x="527528" y="1948688"/>
              <a:ext cx="1826154" cy="179705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7BFAD31-266E-F967-01CF-31183ABA8CFD}"/>
                </a:ext>
              </a:extLst>
            </p:cNvPr>
            <p:cNvSpPr txBox="1"/>
            <p:nvPr/>
          </p:nvSpPr>
          <p:spPr>
            <a:xfrm>
              <a:off x="762238" y="3820034"/>
              <a:ext cx="135673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Grayscale Picture ( M * N * 1 )</a:t>
              </a:r>
              <a:r>
                <a:rPr lang="zh-TW" altLang="en-US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FE201E3-FC70-5706-CF66-237BD5022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rcRect l="2703" t="3055" r="2205" b="2376"/>
            <a:stretch/>
          </p:blipFill>
          <p:spPr>
            <a:xfrm>
              <a:off x="3630659" y="1948688"/>
              <a:ext cx="1826154" cy="179705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BCB4DB3A-63F8-1739-0CC2-FB5B63E1E24D}"/>
                </a:ext>
              </a:extLst>
            </p:cNvPr>
            <p:cNvSpPr txBox="1"/>
            <p:nvPr/>
          </p:nvSpPr>
          <p:spPr>
            <a:xfrm>
              <a:off x="3748014" y="3820034"/>
              <a:ext cx="159144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Normalized Picture</a:t>
              </a:r>
              <a:r>
                <a:rPr lang="zh-TW" altLang="en-US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027" name="Picture 3" descr="Weighted graph · Hyperskill">
              <a:extLst>
                <a:ext uri="{FF2B5EF4-FFF2-40B4-BE49-F238E27FC236}">
                  <a16:creationId xmlns:a16="http://schemas.microsoft.com/office/drawing/2014/main" id="{4CA7F703-3B57-073B-0B0D-46BB05FE9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3790" y="2184037"/>
              <a:ext cx="1882683" cy="1326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DF78D0BA-B1E5-1436-1697-8D20F70A11C8}"/>
                </a:ext>
              </a:extLst>
            </p:cNvPr>
            <p:cNvSpPr txBox="1"/>
            <p:nvPr/>
          </p:nvSpPr>
          <p:spPr>
            <a:xfrm>
              <a:off x="6879410" y="3820034"/>
              <a:ext cx="159144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Weighted Graph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A0D11435-AAAB-CF72-5638-30A63980623E}"/>
                </a:ext>
              </a:extLst>
            </p:cNvPr>
            <p:cNvSpPr txBox="1"/>
            <p:nvPr/>
          </p:nvSpPr>
          <p:spPr>
            <a:xfrm>
              <a:off x="2313803" y="2600990"/>
              <a:ext cx="135673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Normalization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954A616-6A82-FD81-BCD2-AC2CD3AC9183}"/>
                </a:ext>
              </a:extLst>
            </p:cNvPr>
            <p:cNvSpPr txBox="1"/>
            <p:nvPr/>
          </p:nvSpPr>
          <p:spPr>
            <a:xfrm>
              <a:off x="5416934" y="2600991"/>
              <a:ext cx="135673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Distance Function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116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9B9E-555A-374B-229D-34B6CA5B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D5969F3B-E0F8-2B76-6680-A1E85252AC97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Image Segmentation by Human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FB018C32-B29C-AD45-B0D4-0FB6F3C0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8</a:t>
            </a:fld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99E4396D-0E0A-4723-B7D9-989D7E10144B}"/>
              </a:ext>
            </a:extLst>
          </p:cNvPr>
          <p:cNvGrpSpPr/>
          <p:nvPr/>
        </p:nvGrpSpPr>
        <p:grpSpPr>
          <a:xfrm>
            <a:off x="1077664" y="1996778"/>
            <a:ext cx="6988673" cy="2175276"/>
            <a:chOff x="1856892" y="1996778"/>
            <a:chExt cx="6988673" cy="2175276"/>
          </a:xfrm>
        </p:grpSpPr>
        <p:pic>
          <p:nvPicPr>
            <p:cNvPr id="1027" name="Picture 3" descr="Weighted graph · Hyperskill">
              <a:extLst>
                <a:ext uri="{FF2B5EF4-FFF2-40B4-BE49-F238E27FC236}">
                  <a16:creationId xmlns:a16="http://schemas.microsoft.com/office/drawing/2014/main" id="{C58237E8-6F83-1387-FEA7-B24288DAD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6892" y="2289836"/>
              <a:ext cx="1882683" cy="1326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A67C40DA-39D6-1370-4ED2-E1AF717400E7}"/>
                </a:ext>
              </a:extLst>
            </p:cNvPr>
            <p:cNvSpPr txBox="1"/>
            <p:nvPr/>
          </p:nvSpPr>
          <p:spPr>
            <a:xfrm>
              <a:off x="2002512" y="3925833"/>
              <a:ext cx="159144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Weighted Graph</a:t>
              </a:r>
            </a:p>
          </p:txBody>
        </p:sp>
        <p:pic>
          <p:nvPicPr>
            <p:cNvPr id="2" name="Picture 3" descr="Weighted graph · Hyperskill">
              <a:extLst>
                <a:ext uri="{FF2B5EF4-FFF2-40B4-BE49-F238E27FC236}">
                  <a16:creationId xmlns:a16="http://schemas.microsoft.com/office/drawing/2014/main" id="{ADF95920-4AD2-9DA0-BF70-5E0806CFF3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2882" y="2289836"/>
              <a:ext cx="1882683" cy="1326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45607F93-D4F7-102C-35AB-B62B75C0F64E}"/>
                </a:ext>
              </a:extLst>
            </p:cNvPr>
            <p:cNvSpPr txBox="1"/>
            <p:nvPr/>
          </p:nvSpPr>
          <p:spPr>
            <a:xfrm>
              <a:off x="7108502" y="3925833"/>
              <a:ext cx="159144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Partition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5D26E58B-2811-E1C4-B9FE-110D2C0F9E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2504" y="2291388"/>
              <a:ext cx="0" cy="1324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641023B4-CEE3-1E91-650A-8FF46FC5D28C}"/>
                </a:ext>
              </a:extLst>
            </p:cNvPr>
            <p:cNvCxnSpPr>
              <a:cxnSpLocks/>
            </p:cNvCxnSpPr>
            <p:nvPr/>
          </p:nvCxnSpPr>
          <p:spPr>
            <a:xfrm>
              <a:off x="8206384" y="2291388"/>
              <a:ext cx="0" cy="1324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1C95E5B2-CF0F-C1C0-8ACB-D9547CF9AE58}"/>
                </a:ext>
              </a:extLst>
            </p:cNvPr>
            <p:cNvSpPr txBox="1"/>
            <p:nvPr/>
          </p:nvSpPr>
          <p:spPr>
            <a:xfrm>
              <a:off x="7072505" y="1996778"/>
              <a:ext cx="460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</a:t>
              </a:r>
              <a:r>
                <a:rPr lang="en-US" altLang="zh-TW" sz="1000" b="1" baseline="-25000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endParaRPr lang="zh-TW" altLang="en-US" sz="1000" b="1" baseline="-25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EEA48DE-5383-6095-4611-F476C6D8F094}"/>
                </a:ext>
              </a:extLst>
            </p:cNvPr>
            <p:cNvSpPr txBox="1"/>
            <p:nvPr/>
          </p:nvSpPr>
          <p:spPr>
            <a:xfrm>
              <a:off x="7694257" y="1996778"/>
              <a:ext cx="460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</a:t>
              </a:r>
              <a:endParaRPr lang="zh-TW" altLang="en-US" sz="1000" b="1" baseline="-25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4EAD03CE-E82A-BFB3-6562-0993684FCFA0}"/>
                </a:ext>
              </a:extLst>
            </p:cNvPr>
            <p:cNvSpPr txBox="1"/>
            <p:nvPr/>
          </p:nvSpPr>
          <p:spPr>
            <a:xfrm>
              <a:off x="8295787" y="1996778"/>
              <a:ext cx="460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</a:t>
              </a:r>
              <a:r>
                <a:rPr lang="en-US" altLang="zh-TW" sz="1000" b="1" i="1" baseline="-25000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K</a:t>
              </a:r>
              <a:endParaRPr lang="zh-TW" altLang="en-US" sz="1000" b="1" i="1" baseline="-25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1FF8F8DB-CE11-C2DF-550A-40919A2C505D}"/>
                </a:ext>
              </a:extLst>
            </p:cNvPr>
            <p:cNvCxnSpPr>
              <a:cxnSpLocks/>
              <a:stCxn id="1027" idx="3"/>
              <a:endCxn id="2" idx="1"/>
            </p:cNvCxnSpPr>
            <p:nvPr/>
          </p:nvCxnSpPr>
          <p:spPr>
            <a:xfrm>
              <a:off x="3739575" y="2953012"/>
              <a:ext cx="322330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F0CD01D-1176-CED8-C13D-787EC7FEB825}"/>
                </a:ext>
              </a:extLst>
            </p:cNvPr>
            <p:cNvSpPr txBox="1"/>
            <p:nvPr/>
          </p:nvSpPr>
          <p:spPr>
            <a:xfrm>
              <a:off x="3913494" y="2704173"/>
              <a:ext cx="28754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Partition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52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1EBB-715B-C173-7D3B-95DA415F9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16868D5-B62D-11E3-0C1A-CB1674D180C5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Distance Function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15DD67AE-B505-0955-34FB-8B9F643F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BE75EF6E-E61C-B483-9832-89FB9BFFA8D0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46157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 &lt;=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2000" i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2000" i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&lt;= 1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en-US" altLang="zh-TW" sz="2000" i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0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 the gray level of pixel </a:t>
            </a:r>
            <a:r>
              <a:rPr lang="en-US" altLang="zh-TW" sz="20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endParaRPr lang="en-US" altLang="zh-TW" sz="2000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N(</a:t>
            </a:r>
            <a:r>
              <a:rPr lang="en-US" altLang="zh-TW" sz="20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is the neighborhood of pixel </a:t>
            </a:r>
            <a:r>
              <a:rPr lang="en-US" altLang="zh-TW" sz="20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endParaRPr lang="en-US" altLang="zh-TW" sz="2000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ABA307D1-636D-8BC8-AD4B-EA562D03B9C5}"/>
              </a:ext>
            </a:extLst>
          </p:cNvPr>
          <p:cNvGrpSpPr/>
          <p:nvPr/>
        </p:nvGrpSpPr>
        <p:grpSpPr>
          <a:xfrm>
            <a:off x="1030797" y="2667526"/>
            <a:ext cx="7790838" cy="1163150"/>
            <a:chOff x="836060" y="2642125"/>
            <a:chExt cx="7790838" cy="116315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E3E774E-F516-8834-0F80-DB7EB7218DF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6060" y="2642125"/>
              <a:ext cx="7790838" cy="874249"/>
              <a:chOff x="214419" y="3571228"/>
              <a:chExt cx="10441905" cy="1171739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28022206-D8BF-797E-5920-D66BF0BB8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4419" y="3571228"/>
                <a:ext cx="4725059" cy="1047896"/>
              </a:xfrm>
              <a:prstGeom prst="rect">
                <a:avLst/>
              </a:prstGeom>
            </p:spPr>
          </p:pic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EB1FC968-6404-84EA-2744-18D138984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7211" y="3571228"/>
                <a:ext cx="5649113" cy="1171739"/>
              </a:xfrm>
              <a:prstGeom prst="rect">
                <a:avLst/>
              </a:prstGeom>
            </p:spPr>
          </p:pic>
        </p:grp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7099D832-AA55-112E-BCB5-0CBB3ADE9B08}"/>
                </a:ext>
              </a:extLst>
            </p:cNvPr>
            <p:cNvCxnSpPr>
              <a:cxnSpLocks/>
            </p:cNvCxnSpPr>
            <p:nvPr/>
          </p:nvCxnSpPr>
          <p:spPr>
            <a:xfrm>
              <a:off x="2317922" y="3513704"/>
              <a:ext cx="202663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7CBB2C-F2FF-6BB5-D296-9EBCD41DC659}"/>
                </a:ext>
              </a:extLst>
            </p:cNvPr>
            <p:cNvSpPr txBox="1"/>
            <p:nvPr/>
          </p:nvSpPr>
          <p:spPr>
            <a:xfrm>
              <a:off x="2282792" y="3557039"/>
              <a:ext cx="209689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Similarity between Pixel </a:t>
              </a:r>
              <a:r>
                <a:rPr lang="en-US" altLang="zh-TW" sz="1000" b="1" i="1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</a:t>
              </a:r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, and </a:t>
              </a:r>
              <a:r>
                <a:rPr lang="en-US" altLang="zh-TW" sz="1000" b="1" i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j</a:t>
              </a:r>
              <a:endParaRPr lang="zh-TW" altLang="en-US" sz="1000" b="1" i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F5C77539-B6DB-AA0D-F9CB-6481BA3A55BA}"/>
                </a:ext>
              </a:extLst>
            </p:cNvPr>
            <p:cNvCxnSpPr>
              <a:cxnSpLocks/>
            </p:cNvCxnSpPr>
            <p:nvPr/>
          </p:nvCxnSpPr>
          <p:spPr>
            <a:xfrm>
              <a:off x="4887050" y="3513704"/>
              <a:ext cx="361687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BDA90929-C5B0-3323-4D50-94BDD397BE95}"/>
                </a:ext>
              </a:extLst>
            </p:cNvPr>
            <p:cNvSpPr txBox="1"/>
            <p:nvPr/>
          </p:nvSpPr>
          <p:spPr>
            <a:xfrm>
              <a:off x="5044485" y="3559054"/>
              <a:ext cx="3302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Similarity between Neighborhoods</a:t>
              </a:r>
              <a:r>
                <a:rPr lang="zh-TW" altLang="en-US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of Pixel </a:t>
              </a:r>
              <a:r>
                <a:rPr lang="en-US" altLang="zh-TW" sz="1000" b="1" i="1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</a:t>
              </a:r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, and </a:t>
              </a:r>
              <a:r>
                <a:rPr lang="en-US" altLang="zh-TW" sz="1000" b="1" i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j</a:t>
              </a:r>
              <a:endParaRPr lang="zh-TW" altLang="en-US" sz="1000" b="1" i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905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A3D7-6309-F843-8374-CA07B33E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B74589C6-A1A6-E1E7-B744-A7E5B759597C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Distance Function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11545033-DD5B-6295-FF38-AAAA42F3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F5CA2E74-77BE-A1B2-6CFF-4C42F11336B5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46157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Minimize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 distance function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EB86C6C4-7EDD-80F7-5A48-A2F09FC37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660" y="1500552"/>
            <a:ext cx="3338375" cy="85868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7EE7AF3-C113-CA08-F8BE-4353BFC3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274" y="2359241"/>
            <a:ext cx="2114845" cy="246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45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29306-9554-EBC9-492D-0AFA1CC3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D14F743F-2E32-DBC7-66C9-37BC63C04868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Chromosome Representation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1E8E1450-11A4-C1DB-658F-193D41A9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6EAA500-EE4D-7631-7D07-C27306E87901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 Bit Binary String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 MSB identifies pixel position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 LSB identifies the pixel label of the cluster to which the pixel belongs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79155FFA-4D25-3ECC-15BE-8CC52061293B}"/>
              </a:ext>
            </a:extLst>
          </p:cNvPr>
          <p:cNvGrpSpPr/>
          <p:nvPr/>
        </p:nvGrpSpPr>
        <p:grpSpPr>
          <a:xfrm>
            <a:off x="1125563" y="2698242"/>
            <a:ext cx="4285136" cy="983594"/>
            <a:chOff x="829229" y="2698242"/>
            <a:chExt cx="4285136" cy="983594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CC7EE97-B9FF-5C13-F3CE-933D1021F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9229" y="2698242"/>
              <a:ext cx="4285136" cy="588981"/>
            </a:xfrm>
            <a:prstGeom prst="rect">
              <a:avLst/>
            </a:prstGeom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E8EFF0E-8552-9B95-94B0-400B8A1C57AA}"/>
                </a:ext>
              </a:extLst>
            </p:cNvPr>
            <p:cNvSpPr txBox="1"/>
            <p:nvPr/>
          </p:nvSpPr>
          <p:spPr>
            <a:xfrm>
              <a:off x="3463778" y="3435615"/>
              <a:ext cx="135673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Pixel Label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BE790A3-9764-197E-41DD-F00EFD899F58}"/>
                </a:ext>
              </a:extLst>
            </p:cNvPr>
            <p:cNvSpPr txBox="1"/>
            <p:nvPr/>
          </p:nvSpPr>
          <p:spPr>
            <a:xfrm>
              <a:off x="1400028" y="3435615"/>
              <a:ext cx="135673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Pixel Position</a:t>
              </a:r>
              <a:endPara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" name="直線接點 1">
              <a:extLst>
                <a:ext uri="{FF2B5EF4-FFF2-40B4-BE49-F238E27FC236}">
                  <a16:creationId xmlns:a16="http://schemas.microsoft.com/office/drawing/2014/main" id="{C23C0DC7-CB96-E554-43C6-B81421FC1C4C}"/>
                </a:ext>
              </a:extLst>
            </p:cNvPr>
            <p:cNvCxnSpPr>
              <a:cxnSpLocks/>
            </p:cNvCxnSpPr>
            <p:nvPr/>
          </p:nvCxnSpPr>
          <p:spPr>
            <a:xfrm>
              <a:off x="952018" y="3321240"/>
              <a:ext cx="225419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0C38F369-8455-392A-94A6-6B0EF92FCEC2}"/>
                </a:ext>
              </a:extLst>
            </p:cNvPr>
            <p:cNvCxnSpPr>
              <a:cxnSpLocks/>
            </p:cNvCxnSpPr>
            <p:nvPr/>
          </p:nvCxnSpPr>
          <p:spPr>
            <a:xfrm>
              <a:off x="3285643" y="3321240"/>
              <a:ext cx="171180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997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0083-9CB5-32B0-A781-03766458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5F36891C-E751-3ACB-7711-F1BE7A0AEACA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Fitness Function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89DDBB69-AD74-5EAB-B378-7FADA5F0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A47F2F18-D6A6-30E6-8A9F-61F4860B3A97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#agrk is the largest pixel intersection between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Seg</a:t>
            </a:r>
            <a:r>
              <a:rPr lang="en-US" altLang="zh-TW" sz="2000" i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 S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Seg</a:t>
            </a:r>
            <a:r>
              <a:rPr lang="en-US" altLang="zh-TW" sz="2000" i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denotes the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sz="2000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aseline="30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th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segment retrieved by human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 denotes the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sz="2000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aseline="30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th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segment retrieved by machine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DB4FC1D-E92C-83D7-B27F-3E59EBCB89B7}"/>
              </a:ext>
            </a:extLst>
          </p:cNvPr>
          <p:cNvGrpSpPr/>
          <p:nvPr/>
        </p:nvGrpSpPr>
        <p:grpSpPr>
          <a:xfrm>
            <a:off x="1041560" y="2664320"/>
            <a:ext cx="3075780" cy="1721270"/>
            <a:chOff x="872224" y="2605053"/>
            <a:chExt cx="3075780" cy="172127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5BE409D-47CA-D4EC-6C10-8614E1FE6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32"/>
            <a:stretch/>
          </p:blipFill>
          <p:spPr>
            <a:xfrm>
              <a:off x="872224" y="2605053"/>
              <a:ext cx="3075780" cy="1114581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E48B52EA-EB29-426F-2414-55752B644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224" y="3859533"/>
              <a:ext cx="2829320" cy="466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5834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CD05-724F-04E5-52A3-CFFDDCD6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390D0A5-4804-D2D4-82B5-64D595CC7E42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Crossover &amp; Mutation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55EF1E21-723E-9B1C-3FEF-C265A222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98DBE33-791E-B6E8-202F-4FA3F9A0E113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Single point crossover with probability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2000" i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Bit mutation with probability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2000" i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9A09423-5029-FA16-7E4F-5DC38FFCCF32}"/>
              </a:ext>
            </a:extLst>
          </p:cNvPr>
          <p:cNvGrpSpPr/>
          <p:nvPr/>
        </p:nvGrpSpPr>
        <p:grpSpPr>
          <a:xfrm>
            <a:off x="2604793" y="2250870"/>
            <a:ext cx="5496326" cy="2702830"/>
            <a:chOff x="2604793" y="2250870"/>
            <a:chExt cx="5496326" cy="270283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D9F47923-22BD-A9A7-8ADE-22FE8D0AB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4793" y="2250870"/>
              <a:ext cx="5496326" cy="2570862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95744FF-C0D3-D36F-D5D0-B15E7BE2D79A}"/>
                </a:ext>
              </a:extLst>
            </p:cNvPr>
            <p:cNvSpPr/>
            <p:nvPr/>
          </p:nvSpPr>
          <p:spPr>
            <a:xfrm>
              <a:off x="3467099" y="2802467"/>
              <a:ext cx="1621367" cy="3005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7554B6C-8116-5C9A-F913-FDB7AB318486}"/>
                </a:ext>
              </a:extLst>
            </p:cNvPr>
            <p:cNvSpPr/>
            <p:nvPr/>
          </p:nvSpPr>
          <p:spPr>
            <a:xfrm>
              <a:off x="3467099" y="3598012"/>
              <a:ext cx="1642533" cy="300566"/>
            </a:xfrm>
            <a:prstGeom prst="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EE4BFFA-983E-9B30-649E-3A61C57105B5}"/>
                </a:ext>
              </a:extLst>
            </p:cNvPr>
            <p:cNvSpPr/>
            <p:nvPr/>
          </p:nvSpPr>
          <p:spPr>
            <a:xfrm>
              <a:off x="6413500" y="2788176"/>
              <a:ext cx="1579564" cy="300566"/>
            </a:xfrm>
            <a:prstGeom prst="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1CD6E34-D560-53E2-5952-0C755C37EC08}"/>
                </a:ext>
              </a:extLst>
            </p:cNvPr>
            <p:cNvSpPr/>
            <p:nvPr/>
          </p:nvSpPr>
          <p:spPr>
            <a:xfrm>
              <a:off x="6413500" y="3614208"/>
              <a:ext cx="1609726" cy="3005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9E1900B-C5AF-306D-3317-B8AEC0C853FF}"/>
                </a:ext>
              </a:extLst>
            </p:cNvPr>
            <p:cNvCxnSpPr>
              <a:cxnSpLocks/>
            </p:cNvCxnSpPr>
            <p:nvPr/>
          </p:nvCxnSpPr>
          <p:spPr>
            <a:xfrm>
              <a:off x="5189219" y="3094567"/>
              <a:ext cx="1148080" cy="43772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2DA6F8DE-2669-F916-05A5-BE679BBD3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9219" y="3151819"/>
              <a:ext cx="1148080" cy="437727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F045986-3F4F-73D4-C931-CC9D87ECCCA6}"/>
                </a:ext>
              </a:extLst>
            </p:cNvPr>
            <p:cNvSpPr/>
            <p:nvPr/>
          </p:nvSpPr>
          <p:spPr>
            <a:xfrm>
              <a:off x="3043132" y="4441871"/>
              <a:ext cx="423968" cy="300566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69EE42C-4836-A32D-06B6-9E8E85AD2735}"/>
                </a:ext>
              </a:extLst>
            </p:cNvPr>
            <p:cNvSpPr/>
            <p:nvPr/>
          </p:nvSpPr>
          <p:spPr>
            <a:xfrm>
              <a:off x="5989532" y="4427751"/>
              <a:ext cx="423968" cy="300566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1" name="弧形 20">
              <a:extLst>
                <a:ext uri="{FF2B5EF4-FFF2-40B4-BE49-F238E27FC236}">
                  <a16:creationId xmlns:a16="http://schemas.microsoft.com/office/drawing/2014/main" id="{E9532015-662C-31CB-38C4-BA4BDFF80AD3}"/>
                </a:ext>
              </a:extLst>
            </p:cNvPr>
            <p:cNvSpPr/>
            <p:nvPr/>
          </p:nvSpPr>
          <p:spPr>
            <a:xfrm flipV="1">
              <a:off x="3286124" y="4643275"/>
              <a:ext cx="2919414" cy="310425"/>
            </a:xfrm>
            <a:prstGeom prst="arc">
              <a:avLst>
                <a:gd name="adj1" fmla="val 10809343"/>
                <a:gd name="adj2" fmla="val 30030"/>
              </a:avLst>
            </a:prstGeom>
            <a:ln w="19050">
              <a:solidFill>
                <a:schemeClr val="accent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8294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D099-75DA-E263-89C2-349D6E1A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1724F61-9724-AED8-B3EA-A3594DFA6E65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Selection Process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6D133402-05F1-56E3-78D9-B93EF0AE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25CE4D5-E656-7D4E-9977-592068C82681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GAs population with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 *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numbers of chromosomes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P(0) is initialized with random number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New population P(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+ 1) is determined with better fitness</a:t>
            </a:r>
          </a:p>
          <a:p>
            <a:pPr>
              <a:lnSpc>
                <a:spcPct val="150000"/>
              </a:lnSpc>
            </a:pP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 the iteration number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6102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96BD-B444-4071-AE07-D9E8461A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BD21D7-99EE-CFB8-1EB0-D2AF01B5045C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Termination Condition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90D2A0B6-5CE2-4054-B3C7-5D75C44F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1CBFFCF6-7C42-EFB4-CE21-C868F748AEDE}"/>
              </a:ext>
            </a:extLst>
          </p:cNvPr>
          <p:cNvSpPr txBox="1">
            <a:spLocks/>
          </p:cNvSpPr>
          <p:nvPr/>
        </p:nvSpPr>
        <p:spPr>
          <a:xfrm>
            <a:off x="817010" y="972033"/>
            <a:ext cx="8129921" cy="39694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σ(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2000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is the grey-level variance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 region </a:t>
            </a:r>
            <a:r>
              <a:rPr lang="en-US" altLang="zh-TW" sz="20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</a:p>
          <a:p>
            <a:pPr algn="l">
              <a:lnSpc>
                <a:spcPct val="150000"/>
              </a:lnSpc>
            </a:pPr>
            <a:r>
              <a:rPr lang="el-GR" altLang="zh-TW" sz="2000" b="0" i="0" u="none" strike="noStrik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ε</a:t>
            </a:r>
            <a:r>
              <a:rPr lang="en-US" altLang="zh-TW" sz="2000" b="0" i="0" u="none" strike="noStrik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is the small defined value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198522C-6CEE-FAE4-22B4-A20A155BB61A}"/>
              </a:ext>
            </a:extLst>
          </p:cNvPr>
          <p:cNvGrpSpPr/>
          <p:nvPr/>
        </p:nvGrpSpPr>
        <p:grpSpPr>
          <a:xfrm>
            <a:off x="965845" y="2101435"/>
            <a:ext cx="2453216" cy="1451106"/>
            <a:chOff x="958616" y="2094203"/>
            <a:chExt cx="2929102" cy="189202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1648C20-85DC-D6B4-DD86-36C317A1E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93"/>
            <a:stretch/>
          </p:blipFill>
          <p:spPr>
            <a:xfrm>
              <a:off x="1101011" y="2094203"/>
              <a:ext cx="2628873" cy="1200318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DA04BBC-F95D-5821-3E02-9BABE798F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616" y="3539414"/>
              <a:ext cx="2929102" cy="446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0031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EC14-3204-0AFF-AA78-44480696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829D197-CF2F-CECF-6B2A-5858F1FA9771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GA Based Image Segmentation Algorithm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4943D09E-0BCA-E1DD-81E0-3B1D1B37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6D61E17-53CC-2709-9DB7-57B16BB7BB79}"/>
              </a:ext>
            </a:extLst>
          </p:cNvPr>
          <p:cNvSpPr txBox="1">
            <a:spLocks/>
          </p:cNvSpPr>
          <p:nvPr/>
        </p:nvSpPr>
        <p:spPr>
          <a:xfrm>
            <a:off x="1386581" y="1237683"/>
            <a:ext cx="6370838" cy="369346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∀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∈ </a:t>
            </a:r>
            <a:r>
              <a:rPr lang="en-US" altLang="zh-TW" sz="180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  <a:r>
              <a:rPr lang="zh-TW" altLang="en-US" sz="180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</a:t>
            </a:r>
            <a:r>
              <a:rPr lang="zh-TW" altLang="en-US" sz="180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1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if </a:t>
            </a:r>
            <a:r>
              <a:rPr lang="el-GR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δ(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800" b="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1800" b="0" i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</a:t>
            </a:r>
            <a:r>
              <a:rPr lang="en-US" altLang="zh-TW" sz="1800" b="0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</a:t>
            </a:r>
            <a:r>
              <a:rPr lang="en-US" altLang="zh-TW" sz="1800" b="0" i="1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) = </a:t>
            </a:r>
            <a:r>
              <a:rPr lang="en-US" altLang="zh-TW" sz="1800" b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min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{ </a:t>
            </a:r>
            <a:r>
              <a:rPr lang="el-GR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δ(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800" b="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1800" b="0" i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g</a:t>
            </a:r>
            <a:r>
              <a:rPr lang="en-US" altLang="zh-TW" sz="1800" b="0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</a:t>
            </a:r>
            <a:r>
              <a:rPr lang="en-US" altLang="zh-TW" sz="1800" b="0" i="1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), </a:t>
            </a:r>
            <a:r>
              <a:rPr lang="en-US" altLang="zh-TW" sz="1800" b="0" i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1 , 2 , . . . , </a:t>
            </a:r>
            <a:r>
              <a:rPr lang="en-US" altLang="zh-TW" sz="1800" b="0" i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</a:t>
            </a:r>
            <a:r>
              <a:rPr lang="en-US" altLang="zh-TW" sz="1800" b="0" i="1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en-US" altLang="zh-TW" sz="1800" b="0" i="1" u="none" strike="noStrike" baseline="-25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1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then</a:t>
            </a:r>
            <a:endParaRPr lang="en-US" altLang="zh-TW" sz="1800" b="0" i="0" u="none" strike="noStrike" baseline="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	Crossover &amp; Mutation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en-US" altLang="zh-TW" sz="1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Generate P(</a:t>
            </a:r>
            <a:r>
              <a:rPr lang="en-US" altLang="zh-TW" sz="1800" i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  <a:r>
              <a:rPr lang="en-US" altLang="zh-TW" sz="1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+ 1)</a:t>
            </a:r>
            <a:endParaRPr lang="en-US" altLang="zh-TW" sz="1800" b="0" i="0" u="none" strike="noStrike" baseline="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en-US" altLang="zh-TW" sz="1800" b="0" i="0" u="none" strike="noStrike" baseline="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1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	assign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en-US" altLang="zh-TW" sz="1800" b="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1800" b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</a:t>
            </a:r>
            <a:r>
              <a:rPr lang="en-US" altLang="zh-TW" sz="1800" b="0" i="1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</a:t>
            </a:r>
            <a:r>
              <a:rPr lang="en-US" altLang="zh-TW" sz="1800" b="0" i="1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1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	update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({ </a:t>
            </a:r>
            <a:r>
              <a:rPr lang="el-GR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μ</a:t>
            </a:r>
            <a:r>
              <a:rPr lang="en-US" altLang="zh-TW" sz="1800" b="0" i="1" u="none" strike="noStrike" baseline="-25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l-GR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σ</a:t>
            </a:r>
            <a:r>
              <a:rPr lang="en-US" altLang="zh-TW" sz="1800" b="0" i="1" u="none" strike="noStrike" baseline="-25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})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1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end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en-US" altLang="zh-TW" sz="1800" b="1" i="0" u="none" strike="noStrike" baseline="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Increase iteration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en-US" altLang="zh-TW" sz="1800" b="0" i="0" u="none" strike="noStrike" baseline="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TW" sz="1800" b="1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repeat until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 | </a:t>
            </a:r>
            <a:r>
              <a:rPr lang="en-US" altLang="zh-TW" sz="1800" b="0" i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Var</a:t>
            </a:r>
            <a:r>
              <a:rPr lang="en-US" altLang="zh-TW" sz="1800" b="0" i="1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  <a:r>
              <a:rPr lang="en-US" altLang="zh-TW" sz="1800" b="0" i="1" u="none" strike="noStrike" baseline="-25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baseline="-25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+ 1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− </a:t>
            </a:r>
            <a:r>
              <a:rPr lang="en-US" altLang="zh-TW" sz="1800" b="0" i="0" u="none" strike="noStrike" baseline="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Var</a:t>
            </a:r>
            <a:r>
              <a:rPr lang="en-US" altLang="zh-TW" sz="1800" b="0" i="1" u="none" strike="noStrike" baseline="-25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  <a:r>
              <a:rPr lang="en-US" altLang="zh-TW" sz="1800" b="0" i="1" u="none" strike="noStrike" baseline="-25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| &lt;= </a:t>
            </a:r>
            <a:r>
              <a:rPr lang="el-GR" altLang="zh-TW" sz="1800" b="0" i="0" u="none" strike="noStrike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ε</a:t>
            </a:r>
            <a:r>
              <a:rPr lang="en-US" altLang="zh-TW" sz="1800" b="0" i="0" u="none" strike="noStrike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baseline="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98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C426-98D9-9B6F-AE6B-27EFF875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EF80FC2D-8A27-35D9-8FD0-350524291636}"/>
              </a:ext>
            </a:extLst>
          </p:cNvPr>
          <p:cNvSpPr txBox="1"/>
          <p:nvPr/>
        </p:nvSpPr>
        <p:spPr>
          <a:xfrm>
            <a:off x="1280867" y="2565113"/>
            <a:ext cx="658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Experiment &amp; Result</a:t>
            </a:r>
          </a:p>
        </p:txBody>
      </p:sp>
    </p:spTree>
    <p:extLst>
      <p:ext uri="{BB962C8B-B14F-4D97-AF65-F5344CB8AC3E}">
        <p14:creationId xmlns:p14="http://schemas.microsoft.com/office/powerpoint/2010/main" val="741579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41DF-4D9F-AD66-9F32-A8A88116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EAF80BA-9C04-AB2B-CFA2-F67F000DC0B2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Tuning Parameter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DC18524C-BC2E-39DE-4AF0-B4F48A18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18</a:t>
            </a:fld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88C6283-0C22-61BC-D9A8-36B14F95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524" y="1870991"/>
            <a:ext cx="5218953" cy="197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16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7552-C794-0D64-BED6-A2B34A51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79A5A1C-5914-87BA-30CE-97FFD3B90074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D0C1F4B3-486A-B40E-05AF-3A12602E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19</a:t>
            </a:fld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1E57844-B628-072C-8848-C2B758FD42C6}"/>
              </a:ext>
            </a:extLst>
          </p:cNvPr>
          <p:cNvGrpSpPr/>
          <p:nvPr/>
        </p:nvGrpSpPr>
        <p:grpSpPr>
          <a:xfrm>
            <a:off x="720197" y="1055837"/>
            <a:ext cx="7703606" cy="4055710"/>
            <a:chOff x="720197" y="1055837"/>
            <a:chExt cx="7703606" cy="405571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4BA5D9BB-8345-1859-C3D0-A6E8BCCD1E7D}"/>
                </a:ext>
              </a:extLst>
            </p:cNvPr>
            <p:cNvGrpSpPr/>
            <p:nvPr/>
          </p:nvGrpSpPr>
          <p:grpSpPr>
            <a:xfrm>
              <a:off x="720197" y="1057285"/>
              <a:ext cx="7703606" cy="4054262"/>
              <a:chOff x="847202" y="1271518"/>
              <a:chExt cx="7703606" cy="4054262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F65990A-D930-53AB-17E9-B7548BBEC5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054" t="1143" r="2579" b="2155"/>
              <a:stretch/>
            </p:blipFill>
            <p:spPr>
              <a:xfrm>
                <a:off x="847202" y="1271518"/>
                <a:ext cx="3493860" cy="3625796"/>
              </a:xfrm>
              <a:prstGeom prst="rect">
                <a:avLst/>
              </a:prstGeom>
            </p:spPr>
          </p:pic>
          <p:pic>
            <p:nvPicPr>
              <p:cNvPr id="9" name="圖片 8">
                <a:extLst>
                  <a:ext uri="{FF2B5EF4-FFF2-40B4-BE49-F238E27FC236}">
                    <a16:creationId xmlns:a16="http://schemas.microsoft.com/office/drawing/2014/main" id="{7D0AD719-C9DB-054A-6E91-65C5A05059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789" t="1676" r="2118" b="1965"/>
              <a:stretch/>
            </p:blipFill>
            <p:spPr>
              <a:xfrm>
                <a:off x="4906355" y="1271518"/>
                <a:ext cx="3644453" cy="3625796"/>
              </a:xfrm>
              <a:prstGeom prst="rect">
                <a:avLst/>
              </a:prstGeom>
            </p:spPr>
          </p:pic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B4D2FB2-2C6E-4511-0BC4-2DAF869DDF31}"/>
                  </a:ext>
                </a:extLst>
              </p:cNvPr>
              <p:cNvSpPr txBox="1"/>
              <p:nvPr/>
            </p:nvSpPr>
            <p:spPr>
              <a:xfrm>
                <a:off x="1798410" y="4987226"/>
                <a:ext cx="15914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600" b="1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Aish</a:t>
                </a:r>
                <a:endPara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4C41BB7-6A06-F92E-CE02-C7F9A05FB410}"/>
                  </a:ext>
                </a:extLst>
              </p:cNvPr>
              <p:cNvSpPr txBox="1"/>
              <p:nvPr/>
            </p:nvSpPr>
            <p:spPr>
              <a:xfrm>
                <a:off x="5932859" y="4987226"/>
                <a:ext cx="15914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Hand</a:t>
                </a:r>
              </a:p>
            </p:txBody>
          </p:sp>
        </p:grp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18441C6-49A9-68BB-D1A2-77AEDF4C962D}"/>
                </a:ext>
              </a:extLst>
            </p:cNvPr>
            <p:cNvSpPr txBox="1"/>
            <p:nvPr/>
          </p:nvSpPr>
          <p:spPr>
            <a:xfrm>
              <a:off x="728148" y="1097112"/>
              <a:ext cx="648000" cy="25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Origin</a:t>
              </a: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E0006FC3-91B8-5483-B713-3F2CE02DAC5B}"/>
                </a:ext>
              </a:extLst>
            </p:cNvPr>
            <p:cNvSpPr txBox="1"/>
            <p:nvPr/>
          </p:nvSpPr>
          <p:spPr>
            <a:xfrm>
              <a:off x="2936179" y="1097112"/>
              <a:ext cx="9629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Global</a:t>
              </a:r>
            </a:p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Threshold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9E2E2743-F15A-1F55-6038-40B8ACA449C9}"/>
                </a:ext>
              </a:extLst>
            </p:cNvPr>
            <p:cNvSpPr txBox="1"/>
            <p:nvPr/>
          </p:nvSpPr>
          <p:spPr>
            <a:xfrm>
              <a:off x="734982" y="3155411"/>
              <a:ext cx="88332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K-Means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F57FB7F-5E3B-9289-0138-E837A31F5757}"/>
                </a:ext>
              </a:extLst>
            </p:cNvPr>
            <p:cNvSpPr txBox="1"/>
            <p:nvPr/>
          </p:nvSpPr>
          <p:spPr>
            <a:xfrm>
              <a:off x="2930174" y="3155411"/>
              <a:ext cx="480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GAs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3AED39D-D41E-760B-E0CE-D44B7186C924}"/>
                </a:ext>
              </a:extLst>
            </p:cNvPr>
            <p:cNvSpPr txBox="1"/>
            <p:nvPr/>
          </p:nvSpPr>
          <p:spPr>
            <a:xfrm>
              <a:off x="4791267" y="1055837"/>
              <a:ext cx="648000" cy="25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Origin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C29D627-8F5C-0570-F45F-55D3E75A84AB}"/>
                </a:ext>
              </a:extLst>
            </p:cNvPr>
            <p:cNvSpPr txBox="1"/>
            <p:nvPr/>
          </p:nvSpPr>
          <p:spPr>
            <a:xfrm>
              <a:off x="6908630" y="1063248"/>
              <a:ext cx="9629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Global</a:t>
              </a:r>
            </a:p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Threshold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992DE3FE-8C3F-E564-C379-BE2C5DD7AEDB}"/>
                </a:ext>
              </a:extLst>
            </p:cNvPr>
            <p:cNvSpPr txBox="1"/>
            <p:nvPr/>
          </p:nvSpPr>
          <p:spPr>
            <a:xfrm>
              <a:off x="4785402" y="3160136"/>
              <a:ext cx="88332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K-Means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E5DD5D1-9473-328B-72B9-C25D2B069904}"/>
                </a:ext>
              </a:extLst>
            </p:cNvPr>
            <p:cNvSpPr txBox="1"/>
            <p:nvPr/>
          </p:nvSpPr>
          <p:spPr>
            <a:xfrm>
              <a:off x="6889926" y="3155411"/>
              <a:ext cx="480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1626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1E62B-6A93-FACC-211D-03FD7FB6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E6F0380-7E59-BAD5-3E0D-F35F4D27FA09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40317BD3-87B9-F7FF-334F-B7F95450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20</a:t>
            </a:fld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51D4D0B0-9976-F0A3-13BC-38E55565660F}"/>
              </a:ext>
            </a:extLst>
          </p:cNvPr>
          <p:cNvGrpSpPr/>
          <p:nvPr/>
        </p:nvGrpSpPr>
        <p:grpSpPr>
          <a:xfrm>
            <a:off x="720197" y="1050841"/>
            <a:ext cx="7703606" cy="4062154"/>
            <a:chOff x="720197" y="1050841"/>
            <a:chExt cx="7703606" cy="4062154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C44CDD06-2F25-9B13-30C1-B63E481646A9}"/>
                </a:ext>
              </a:extLst>
            </p:cNvPr>
            <p:cNvGrpSpPr/>
            <p:nvPr/>
          </p:nvGrpSpPr>
          <p:grpSpPr>
            <a:xfrm>
              <a:off x="720197" y="1055837"/>
              <a:ext cx="7703606" cy="4057158"/>
              <a:chOff x="847202" y="1271816"/>
              <a:chExt cx="7703606" cy="4057158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219BB6B0-DF93-7295-0816-245A9F4055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043" t="1345" r="717" b="1801"/>
              <a:stretch/>
            </p:blipFill>
            <p:spPr>
              <a:xfrm>
                <a:off x="847202" y="1271816"/>
                <a:ext cx="3625199" cy="3625200"/>
              </a:xfrm>
              <a:prstGeom prst="rect">
                <a:avLst/>
              </a:prstGeom>
            </p:spPr>
          </p:pic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30F9AC70-B8F7-9DF6-7C4B-40A13D05A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023" t="2313" r="1859" b="1945"/>
              <a:stretch/>
            </p:blipFill>
            <p:spPr>
              <a:xfrm>
                <a:off x="4925608" y="1271816"/>
                <a:ext cx="3625200" cy="3625200"/>
              </a:xfrm>
              <a:prstGeom prst="rect">
                <a:avLst/>
              </a:prstGeom>
            </p:spPr>
          </p:pic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90443F3-5A15-C0F2-F110-963FAED56E25}"/>
                  </a:ext>
                </a:extLst>
              </p:cNvPr>
              <p:cNvSpPr txBox="1"/>
              <p:nvPr/>
            </p:nvSpPr>
            <p:spPr>
              <a:xfrm>
                <a:off x="1864079" y="4990420"/>
                <a:ext cx="15914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House</a:t>
                </a:r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6669269-96AA-29E2-02A3-EB0E04AB0E8C}"/>
                  </a:ext>
                </a:extLst>
              </p:cNvPr>
              <p:cNvSpPr txBox="1"/>
              <p:nvPr/>
            </p:nvSpPr>
            <p:spPr>
              <a:xfrm>
                <a:off x="5942486" y="4990420"/>
                <a:ext cx="15914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Fish</a:t>
                </a:r>
              </a:p>
            </p:txBody>
          </p:sp>
        </p:grp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A30E373-7BD1-E99E-09E9-AB3D72D911A7}"/>
                </a:ext>
              </a:extLst>
            </p:cNvPr>
            <p:cNvSpPr txBox="1"/>
            <p:nvPr/>
          </p:nvSpPr>
          <p:spPr>
            <a:xfrm>
              <a:off x="720197" y="1055837"/>
              <a:ext cx="648000" cy="25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Origin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F2671F33-6A67-15B1-8576-6AAC122BE892}"/>
                </a:ext>
              </a:extLst>
            </p:cNvPr>
            <p:cNvSpPr txBox="1"/>
            <p:nvPr/>
          </p:nvSpPr>
          <p:spPr>
            <a:xfrm>
              <a:off x="2824861" y="1097112"/>
              <a:ext cx="9629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Global</a:t>
              </a:r>
            </a:p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Threshold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C4DCCEB6-2CDF-41FD-BB77-2B58788990C9}"/>
                </a:ext>
              </a:extLst>
            </p:cNvPr>
            <p:cNvSpPr txBox="1"/>
            <p:nvPr/>
          </p:nvSpPr>
          <p:spPr>
            <a:xfrm>
              <a:off x="727031" y="3151670"/>
              <a:ext cx="88332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K-Means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ED60C57-14F1-DA06-2DE3-17B3167E5F09}"/>
                </a:ext>
              </a:extLst>
            </p:cNvPr>
            <p:cNvSpPr txBox="1"/>
            <p:nvPr/>
          </p:nvSpPr>
          <p:spPr>
            <a:xfrm>
              <a:off x="2818856" y="3155411"/>
              <a:ext cx="480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GAs</a:t>
              </a: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F84BA747-398C-4504-3926-7891D332E31C}"/>
                </a:ext>
              </a:extLst>
            </p:cNvPr>
            <p:cNvSpPr txBox="1"/>
            <p:nvPr/>
          </p:nvSpPr>
          <p:spPr>
            <a:xfrm>
              <a:off x="4792588" y="1073066"/>
              <a:ext cx="648000" cy="25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Origin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F07C7A2-A8CA-12F7-01C2-196708E08DE9}"/>
                </a:ext>
              </a:extLst>
            </p:cNvPr>
            <p:cNvSpPr txBox="1"/>
            <p:nvPr/>
          </p:nvSpPr>
          <p:spPr>
            <a:xfrm>
              <a:off x="6878202" y="1050841"/>
              <a:ext cx="9629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Global</a:t>
              </a:r>
            </a:p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Threshold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C81E375-A24E-6CC7-0CC2-39FDD0D58A09}"/>
                </a:ext>
              </a:extLst>
            </p:cNvPr>
            <p:cNvSpPr txBox="1"/>
            <p:nvPr/>
          </p:nvSpPr>
          <p:spPr>
            <a:xfrm>
              <a:off x="4799422" y="3168899"/>
              <a:ext cx="88332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K-Means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E336702-39EC-D393-8776-DE4CC8A6F4FB}"/>
                </a:ext>
              </a:extLst>
            </p:cNvPr>
            <p:cNvSpPr txBox="1"/>
            <p:nvPr/>
          </p:nvSpPr>
          <p:spPr>
            <a:xfrm>
              <a:off x="6891247" y="3172640"/>
              <a:ext cx="480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4999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29F6-02EC-AC59-E54F-111C53B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5BAF5CE7-A678-9235-88BB-9770407FE944}"/>
              </a:ext>
            </a:extLst>
          </p:cNvPr>
          <p:cNvSpPr txBox="1">
            <a:spLocks/>
          </p:cNvSpPr>
          <p:nvPr/>
        </p:nvSpPr>
        <p:spPr>
          <a:xfrm>
            <a:off x="214419" y="211815"/>
            <a:ext cx="7886700" cy="54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B79AB615-C8B6-E09A-458B-DDFBB76D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5410729"/>
            <a:ext cx="2057400" cy="304271"/>
          </a:xfrm>
        </p:spPr>
        <p:txBody>
          <a:bodyPr/>
          <a:lstStyle/>
          <a:p>
            <a:fld id="{4A437E8B-9299-4714-BA56-3FC38D65EF11}" type="slidenum">
              <a:rPr lang="zh-TW" altLang="en-US" smtClean="0"/>
              <a:t>21</a:t>
            </a:fld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70217384-882A-D36C-80A4-CE6C21C52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48" y="2360415"/>
            <a:ext cx="6839905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39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490F-E65C-DA8C-78BF-687D2BA1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BA3AA83F-2A45-0EFE-DFCF-CCE1524787DB}"/>
              </a:ext>
            </a:extLst>
          </p:cNvPr>
          <p:cNvSpPr txBox="1"/>
          <p:nvPr/>
        </p:nvSpPr>
        <p:spPr>
          <a:xfrm>
            <a:off x="1280867" y="2565113"/>
            <a:ext cx="658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18571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3495</TotalTime>
  <Words>428</Words>
  <Application>Microsoft Office PowerPoint</Application>
  <PresentationFormat>如螢幕大小 (16:10)</PresentationFormat>
  <Paragraphs>139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微軟正黑體</vt:lpstr>
      <vt:lpstr>標楷體</vt:lpstr>
      <vt:lpstr>Arial</vt:lpstr>
      <vt:lpstr>Calibri</vt:lpstr>
      <vt:lpstr>Calibri Light</vt:lpstr>
      <vt:lpstr>Times New Roman</vt:lpstr>
      <vt:lpstr>Office 佈景主題</vt:lpstr>
      <vt:lpstr>Genetic Algorithms A Tool for Image Segmentation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Deep-Learning Project</dc:title>
  <dc:creator>陳奕羱</dc:creator>
  <cp:lastModifiedBy>奕羱 陳</cp:lastModifiedBy>
  <cp:revision>577</cp:revision>
  <dcterms:created xsi:type="dcterms:W3CDTF">2023-09-11T14:21:59Z</dcterms:created>
  <dcterms:modified xsi:type="dcterms:W3CDTF">2024-11-19T13:39:05Z</dcterms:modified>
</cp:coreProperties>
</file>